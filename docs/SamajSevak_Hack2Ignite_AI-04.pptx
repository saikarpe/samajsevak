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023360"/>
            <a:ext cx="3657600" cy="3657600"/>
          </a:xfrm>
          <a:prstGeom prst="ellipse">
            <a:avLst/>
          </a:prstGeom>
          <a:solidFill>
            <a:srgbClr val="1D4ED8">
              <a:alpha val="55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Hack2Ignite  ·  Problem Statement AI-04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SamajSevak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520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public grievance analysis, resolution recommendation and accountability platform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problem, one issue — prioritised, resolved, confirmed by the citizen, escalated if not.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760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Viper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complain. Systems file. Problems repeat.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717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triage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free-text complaints, in several languages, read and sorted by hand.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717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routing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bounce between departments before reaching the right team.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046720" y="1737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717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2057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 prioritisation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743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wire near a school waits in the same queue as a broken bench.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4577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Duplicates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pothole reported 20 times means 20 tickets and wasted field visits.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4297680" y="4023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29768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4577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924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root-cause insight</a:t>
            </a:r>
            <a:endParaRPr lang="en-US" sz="170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and spikes (e.g. a dengue outbreak) go unnoticed until too late.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8046720" y="4023360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21040" y="4297680"/>
            <a:ext cx="640080" cy="64008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4577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98280" y="43434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5029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"Resolved" is declared by the department, and an ignored complaint simply goes quiet.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SamajSevak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co-pilot for grievance cells — for citizens, officers and administrators.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822960" cy="82296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2631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English, Hindi, Marathi and Hinglish. Classifies category and department, extracts ward, landmark, duration, risk words and vulnerable groups.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364992" y="178308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057400"/>
            <a:ext cx="822960" cy="82296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052" y="22631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39312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639312" y="3566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0–100 urgency score. Reports of the same real-world problem are gathered into one master issue using text, GPS and photo evidence.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181344" y="178308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057400"/>
            <a:ext cx="822960" cy="82296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22631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55664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455664" y="3566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action plan from SOPs plus what fixed similar past cases, an ETA, a drafted reply and photo proof of the fix.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8997696" y="1783080"/>
            <a:ext cx="2606040" cy="38404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057400"/>
            <a:ext cx="822960" cy="8229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756" y="22631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72016" y="3063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accountable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9272016" y="3566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citizen confirms the fix. Unresolved issues move through Complaint, Warning and three strikes, every step in an audit trail.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with local ML; plugs into Gemini / OpenAI when a key is available.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portal: evidence first, live AI while you type</a:t>
            </a:r>
            <a:endParaRPr lang="en-US" sz="3200" dirty="0"/>
          </a:p>
        </p:txBody>
      </p:sp>
      <p:pic>
        <p:nvPicPr>
          <p:cNvPr id="4" name="Image 0" descr="C:\Users\karpe\OneDrive\Desktop\AIML Project\Hack2Ignite\samajsevak\docs\screenshots\sub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223760" cy="45148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092440" y="12801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41080" y="12344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Photo, GPS or map pin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161848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is evidence; the location tells one pothole from another.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092440" y="22677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924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41080" y="222199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or speak, in your language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41080" y="26060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हिंदी, मराठी or Hinglish. The page and the Speak button switch language.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092440" y="325526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924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641080" y="320954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"Already reported nearby?"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641080" y="359359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issues that match are shown before submitting; one tap joins the existing issue.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092440" y="424281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0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641080" y="41970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Instant, explained triage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641080" y="4581144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Department, priority, ETA and the reasons, shown before the complaint is filed.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092440" y="52303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9244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8641080" y="518464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+ mobile is the account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641080" y="556869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only ever see an internal citizen ID.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real problem = one master issue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citizens can report it; the department works on it once. No report is ever deleted.</a:t>
            </a:r>
            <a:endParaRPr lang="en-US" sz="1600" dirty="0"/>
          </a:p>
        </p:txBody>
      </p:sp>
      <p:pic>
        <p:nvPicPr>
          <p:cNvPr id="5" name="Image 0" descr="C:\Users\karpe\OneDrive\Desktop\AIML Project\Hack2Ignite\samajsevak\docs\screenshots\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309360" cy="394335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132320" y="1645920"/>
            <a:ext cx="4526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269480" y="191109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16916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joins first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the open issue while typing and taps "Join". Recorded as CITIZEN; the AI makes no merge decision for that report.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670048"/>
            <a:ext cx="4526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269480" y="2935224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69480" y="2935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0" y="271576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fallback after submission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nothing was joined. Links on combined evidence: within 300 m + matching wording or photo; without GPS, same ward + strong wording + same landmark.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32320" y="3694176"/>
            <a:ext cx="4526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269480" y="3959352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0" y="3739896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on a weak signal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ward, same category or the same keyword alone does not merge. The same words 2 km away stay a separate issue.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132320" y="4718304"/>
            <a:ext cx="45262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269480" y="4983480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69480" y="4983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0" y="4764024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has the last word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evidence for every link and can confirm, detach or re-link. Each action is in the audit trail.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reuse is detected with a file hash and a perceptual hash: it compares pictures, it does not understand them. The example above is an English report and a Marathi report of the same fallen wire, 46 m apart.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Accountability: the citizen confirms, the issue escalates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means "awaiting citizen confirmation". Silence is never read as satisfied.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7452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627084"/>
          </a:solidFill>
          <a:ln w="12700">
            <a:solidFill>
              <a:srgbClr val="62708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2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Complaint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Concerned department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78608" y="21945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788920" y="16916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71800" y="187452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718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concerned department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18888" y="21945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12080" y="187452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208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authority of the department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59168" y="21945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269480" y="16916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52360" y="187452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Deputy Collector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299448" y="2194560"/>
            <a:ext cx="237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09760" y="1691640"/>
            <a:ext cx="20574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92640" y="1874520"/>
            <a:ext cx="548640" cy="91440"/>
          </a:xfrm>
          <a:prstGeom prst="roundRect">
            <a:avLst>
              <a:gd name="adj" fmla="val 50000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6926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Strike 3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escalation body: IAS officers + opposition party leaders</a:t>
            </a:r>
            <a:endParaRPr lang="en-US" sz="1200" dirty="0"/>
          </a:p>
        </p:txBody>
      </p:sp>
      <p:pic>
        <p:nvPicPr>
          <p:cNvPr id="29" name="Image 0" descr="C:\Users\karpe\OneDrive\Desktop\AIML Project\Hack2Ignite\samajsevak\docs\screenshots\t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11880"/>
            <a:ext cx="4160520" cy="2600325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30" name="Text 27"/>
          <p:cNvSpPr txBox="1"/>
          <p:nvPr/>
        </p:nvSpPr>
        <p:spPr>
          <a:xfrm>
            <a:off x="4983480" y="3611880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never leaves the department.  </a:t>
            </a:r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strikes go upward. A strike marks how long an issue has gone unresolved; it is not a score of any officer, department or party.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983480" y="4270248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closes. Not satisfied reopens.  </a:t>
            </a:r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reopens for every citizen on it and the escalation clock continues where it stopped.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4983480" y="4928616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escalation per master issue.  </a:t>
            </a:r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citizens reporting one wire means one ladder, not three.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4983480" y="5586984"/>
            <a:ext cx="6675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 live in one place.  </a:t>
            </a:r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the Complaint period is the category SLA and each later stage half of it. They are placeholders, not legal deadlines.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4983480" y="6263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ladder is the prototype’s own workflow, not a verified legal or government procedure. Escalation updates records and screens; nothing is sent to a real authority yet.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console: decide faster, act smarter</a:t>
            </a:r>
            <a:endParaRPr lang="en-US" sz="3200" dirty="0"/>
          </a:p>
        </p:txBody>
      </p:sp>
      <p:pic>
        <p:nvPicPr>
          <p:cNvPr id="4" name="Image 0" descr="C:\Users\karpe\OneDrive\Desktop\AIML Project\Hack2Ignite\samajsevak\docs\screenshots\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34290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pic>
        <p:nvPicPr>
          <p:cNvPr id="5" name="Image 1" descr="C:\Users\karpe\OneDrive\Desktop\AIML Project\Hack2Ignite\samajsevak\docs\screenshots\que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234440"/>
            <a:ext cx="5486400" cy="34290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 — KPIs, open issues by escalation stage, AI alerts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6172200" y="4754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— one row per master issue, with stage and who holds it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48640" y="5532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" y="5532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required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2423160" y="5532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423160" y="5532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Auto-routing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97680" y="5532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297680" y="5532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issues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72200" y="5532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72200" y="5532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/ correct AI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046720" y="5532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46720" y="5532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proof on resolve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9921240" y="55321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921240" y="5532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pipeline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passes through 8 stages in about 30 ms on a laptop CPU.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7FA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153412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0391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Detect language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English, Hinglish, Hindi, Marathi fully; other scripts flagged for human review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10896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383280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7FA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011680"/>
            <a:ext cx="566928" cy="56692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12" y="215341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97680" y="20391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Classify &amp; route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611880" y="2697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multilingual sentence embeddings, averaged → 11 categories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6217920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7FA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2011680"/>
            <a:ext cx="566928" cy="56692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52" y="215341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132320" y="20391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Extract entities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446520" y="2697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Ward, landmark, duration, risk words, vulnerable groups, in all four languages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8778240" y="24688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18"/>
          <p:cNvSpPr/>
          <p:nvPr/>
        </p:nvSpPr>
        <p:spPr>
          <a:xfrm>
            <a:off x="9052560" y="178308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7FA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81160" y="2011680"/>
            <a:ext cx="566928" cy="566928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92" y="2153412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966960" y="203911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Sentiment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9281160" y="26974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+ intensifiers + !/CAPS → distress score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BF5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" y="4251960"/>
            <a:ext cx="566928" cy="56692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4393692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63040" y="427939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Find the same issue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77724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Meaning-level similarity across languages + GPS distance + photo hash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3108960" y="4709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27"/>
          <p:cNvSpPr/>
          <p:nvPr/>
        </p:nvSpPr>
        <p:spPr>
          <a:xfrm>
            <a:off x="338328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BF5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11880" y="4251960"/>
            <a:ext cx="566928" cy="56692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3612" y="4393692"/>
            <a:ext cx="283464" cy="28346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297680" y="427939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Score priority</a:t>
            </a:r>
            <a:endParaRPr lang="en-US" sz="1400" dirty="0"/>
          </a:p>
        </p:txBody>
      </p:sp>
      <p:sp>
        <p:nvSpPr>
          <p:cNvPr id="38" name="Text 30"/>
          <p:cNvSpPr txBox="1"/>
          <p:nvPr/>
        </p:nvSpPr>
        <p:spPr>
          <a:xfrm>
            <a:off x="361188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0–100 from 7 weighted factors, a rule engine not a black box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5943600" y="4709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0" name="Shape 32"/>
          <p:cNvSpPr/>
          <p:nvPr/>
        </p:nvSpPr>
        <p:spPr>
          <a:xfrm>
            <a:off x="621792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BF5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446520" y="4251960"/>
            <a:ext cx="566928" cy="56692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252" y="4393692"/>
            <a:ext cx="283464" cy="28346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7132320" y="427939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Recommend</a:t>
            </a:r>
            <a:endParaRPr lang="en-US" sz="1400" dirty="0"/>
          </a:p>
        </p:txBody>
      </p:sp>
      <p:sp>
        <p:nvSpPr>
          <p:cNvPr id="44" name="Text 35"/>
          <p:cNvSpPr txBox="1"/>
          <p:nvPr/>
        </p:nvSpPr>
        <p:spPr>
          <a:xfrm>
            <a:off x="644652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playbook + proven past fixes + median ETA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8778240" y="4709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400" dirty="0"/>
          </a:p>
        </p:txBody>
      </p:sp>
      <p:sp>
        <p:nvSpPr>
          <p:cNvPr id="46" name="Shape 37"/>
          <p:cNvSpPr/>
          <p:nvPr/>
        </p:nvSpPr>
        <p:spPr>
          <a:xfrm>
            <a:off x="9052560" y="402336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BF5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9281160" y="4251960"/>
            <a:ext cx="566928" cy="566928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2892" y="4393692"/>
            <a:ext cx="283464" cy="283464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966960" y="427939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Detect spikes</a:t>
            </a:r>
            <a:endParaRPr lang="en-US" sz="1400" dirty="0"/>
          </a:p>
        </p:txBody>
      </p:sp>
      <p:sp>
        <p:nvSpPr>
          <p:cNvPr id="50" name="Text 40"/>
          <p:cNvSpPr txBox="1"/>
          <p:nvPr/>
        </p:nvSpPr>
        <p:spPr>
          <a:xfrm>
            <a:off x="9281160" y="49377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× category vs 3-week baseline → alerts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548640" y="61722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optional GenAI (Gemini / OpenAI) drafts replies and checks the photo against the complaint. Advisory only: it never decides category, priority or routing.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priority, not a black box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see exactly why a case is urgent — and can defend the decision.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5778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270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complaint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“Live electric wire has fallen near the primary school in Kothrud since yesterday. Children walk here daily, extremely dangerous!”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severity (Electricity)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3593592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23360" y="3593592"/>
            <a:ext cx="1028700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+22.5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0448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keywords: live electric wire, dangerous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023360" y="4023360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4023360"/>
            <a:ext cx="1188720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39044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342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groups: children, school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023360" y="4453128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4453128"/>
            <a:ext cx="548640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40680" y="43342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764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similar open complaints nearby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023360" y="4882896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4882896"/>
            <a:ext cx="365760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40680" y="47640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1937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persisting ~1 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023360" y="5312664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5312664"/>
            <a:ext cx="146304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51937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+3.2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623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distress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023360" y="5742432"/>
            <a:ext cx="1371600" cy="128016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23360" y="5742432"/>
            <a:ext cx="91440" cy="128016"/>
          </a:xfrm>
          <a:prstGeom prst="roundRect">
            <a:avLst>
              <a:gd name="adj" fmla="val 7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40680" y="56235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00800" y="1737360"/>
            <a:ext cx="5212080" cy="2103120"/>
          </a:xfrm>
          <a:prstGeom prst="roundRect">
            <a:avLst>
              <a:gd name="adj" fmla="val 5217"/>
            </a:avLst>
          </a:prstGeom>
          <a:solidFill>
            <a:srgbClr val="0F1F3D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6675120" y="1874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7200" dirty="0"/>
          </a:p>
        </p:txBody>
      </p:sp>
      <p:sp>
        <p:nvSpPr>
          <p:cNvPr id="34" name="Text 32"/>
          <p:cNvSpPr txBox="1"/>
          <p:nvPr/>
        </p:nvSpPr>
        <p:spPr>
          <a:xfrm>
            <a:off x="6675120" y="3108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  CRITICAL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778240" y="210312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Electricity Board · ETA 12 h · SLA 24 h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400800" y="4069080"/>
            <a:ext cx="52120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675120" y="425196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≥ 60   ·   High ≥ 42   ·   Medium ≥ 25   ·   Low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Hindi or Marathi complaint produces the same factors: local-language risk words map to one shared vocabulary.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(&lt; 40%), an unsupported language, or the citizen and AI disagreeing on category sends the case to human triage.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and trust by design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side can and cannot see.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1717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identity stays hidden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is name + mobile. Officers see an internal ID such as CIT-00013: never the name or the number, on any screen or API.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20" y="21717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console behind a login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Salted password hash and signed 8-hour tokens. The audit trail records who did what.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1737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060" y="21717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0982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page shows counts only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2743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Received, resolved, pending, by stage, department and ward. No complaint text, people or locations. No rankings or scores.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4577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0020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Abuse signals, not verdicts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029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reused photo, a burst from one account or network, identical text. Two signals raise a review flag; nothing is rejected automatically.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429768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72000" y="4297680"/>
            <a:ext cx="640080" cy="6400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020" y="44577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4924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never decides</a:t>
            </a:r>
            <a:endParaRPr lang="en-US" sz="1550" dirty="0"/>
          </a:p>
        </p:txBody>
      </p:sp>
      <p:sp>
        <p:nvSpPr>
          <p:cNvPr id="29" name="Text 22"/>
          <p:cNvSpPr txBox="1"/>
          <p:nvPr/>
        </p:nvSpPr>
        <p:spPr>
          <a:xfrm>
            <a:off x="4572000" y="5029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priority, routing and escalation stay deterministic and explainable. GenAI only drafts and advises.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8046720" y="4023360"/>
            <a:ext cx="34747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21040" y="4297680"/>
            <a:ext cx="640080" cy="64008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1060" y="445770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098280" y="4297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auditable</a:t>
            </a:r>
            <a:endParaRPr lang="en-US" sz="1550" dirty="0"/>
          </a:p>
        </p:txBody>
      </p:sp>
      <p:sp>
        <p:nvSpPr>
          <p:cNvPr id="34" name="Text 26"/>
          <p:cNvSpPr txBox="1"/>
          <p:nvPr/>
        </p:nvSpPr>
        <p:spPr>
          <a:xfrm>
            <a:off x="8321040" y="50292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join, link, correction, resolution, citizen answer and escalation is an event with actor, time, previous and new state.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194560" cy="192024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portal (3 languages)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· photo · GPS / map pin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IVR (planned)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194560" cy="1920240"/>
          </a:xfrm>
          <a:prstGeom prst="roundRect">
            <a:avLst>
              <a:gd name="adj" fmla="val 4762"/>
            </a:avLst>
          </a:prstGeom>
          <a:solidFill>
            <a:srgbClr val="FFF7ED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062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(name + mobile)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(login)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(aggregate page)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authorities (stages)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377440" cy="4297680"/>
          </a:xfrm>
          <a:prstGeom prst="roundRect">
            <a:avLst>
              <a:gd name="adj" fmla="val 3846"/>
            </a:avLst>
          </a:prstGeom>
          <a:solidFill>
            <a:srgbClr val="E8F0FE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 (Vite)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828800"/>
            <a:ext cx="2103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grievance + join issue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Track, confirm, 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complaints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accountability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workspace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 · AI Engine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377440" cy="4297680"/>
          </a:xfrm>
          <a:prstGeom prst="roundRect">
            <a:avLst>
              <a:gd name="adj" fmla="val 3846"/>
            </a:avLst>
          </a:prstGeom>
          <a:solidFill>
            <a:srgbClr val="EFF6FF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463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828800"/>
            <a:ext cx="2103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OpenAPI docs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+ officer auth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Master-issue 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workflow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signals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alerts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1828800"/>
            <a:ext cx="2240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multilingual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(ONNX, CPU)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sentiment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+ GPS + photo hash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 · spike detector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4114800"/>
            <a:ext cx="1188720" cy="155448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8116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4572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reports, events, citizens, officers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469880" y="4114800"/>
            <a:ext cx="1188720" cy="155448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9525">
            <a:solidFill>
              <a:srgbClr val="E3E7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0704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45720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SLAs, lexicons, stage config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0" y="233172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743200" y="47091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669280" y="352044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595360" y="26517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595360" y="489204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17920" y="5897880"/>
            <a:ext cx="5440680" cy="548640"/>
          </a:xfrm>
          <a:prstGeom prst="roundRect">
            <a:avLst>
              <a:gd name="adj" fmla="val 16667"/>
            </a:avLst>
          </a:prstGeom>
          <a:solidFill>
            <a:srgbClr val="FAF5FF"/>
          </a:solidFill>
          <a:ln w="12700">
            <a:solidFill>
              <a:srgbClr val="D8B4FE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355080" y="589788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Gemini 2.0 Flash / GPT-4o-mini — reply drafting and photo check, template fallback offline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06640" y="5669280"/>
            <a:ext cx="0" cy="22860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48640" y="58978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report → join or AI-link to a master issue → route &amp; prioritise → officer resolves with proof → citizen confirms → closed, or reopened and escalated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open-source and deployable on a single government server.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602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9718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OpenStreetMap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(voice)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64992" y="173736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1965960"/>
            <a:ext cx="777240" cy="77724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622" y="216027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53712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29718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(PostgreSQL-ready)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+ HMAC tokens (stdlib)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17 tests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81344" y="173736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1965960"/>
            <a:ext cx="777240" cy="77724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974" y="216027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70064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ML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6409944" y="29718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scikit-learn: TF-IDF, LogReg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+ ONNX Runtime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MiniLM, CPU only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Pillow: photo hashes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OpenAI (optional)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997696" y="1737360"/>
            <a:ext cx="2606040" cy="43891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1965960"/>
            <a:ext cx="777240" cy="777240"/>
          </a:xfrm>
          <a:prstGeom prst="ellipse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326" y="2160270"/>
            <a:ext cx="388620" cy="3886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186416" y="196596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9226296" y="297180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single container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any VM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 at /docs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Env-based keys and timers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offline, no GPU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complaints to prevention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Hotspots, emerging-issue alerts and department accountability.</a:t>
            </a:r>
            <a:endParaRPr lang="en-US" sz="1600" dirty="0"/>
          </a:p>
        </p:txBody>
      </p:sp>
      <p:pic>
        <p:nvPicPr>
          <p:cNvPr id="5" name="Image 0" descr="C:\Users\karpe\OneDrive\Desktop\AIML Project\Hack2Ignite\samajsevak\docs\screenshots\ins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583680" cy="411480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7452360" y="1645920"/>
            <a:ext cx="4206240" cy="2148840"/>
          </a:xfrm>
          <a:prstGeom prst="roundRect">
            <a:avLst>
              <a:gd name="adj" fmla="val 5106"/>
            </a:avLst>
          </a:prstGeom>
          <a:solidFill>
            <a:srgbClr val="FEF2F2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680960" y="1783080"/>
            <a:ext cx="3794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hotspot detected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Drainage and public-health complaints in Hadapsar this week — far above the 3-week baseline (planted in the demo data).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 ward-level drive instead of case-by-case fixes.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4023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risk ranking  </a:t>
            </a:r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urgent load per ward, top issue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4617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compliance by department  </a:t>
            </a:r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performers surface first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452360" y="52120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accountability page  </a:t>
            </a:r>
            <a:pPr indent="0" marL="0">
              <a:buNone/>
            </a:pPr>
            <a:r>
              <a:rPr lang="en-US" sz="13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counts by stage, department and ward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results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working prototype (backend/models/metrics.json, 17 automated tests)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87.9%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accuracy on 66 hand-written English + Hinglish complaints kept unseen until the templates were frozen (58/66). TF-IDF alone: 80.3%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8288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90.9% · 84.8%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834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· Marathi (Devanagari, 33 each) before any training text in those languages existed. 100% · 97.0% after, which is optimistic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18288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ms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2834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analysis per complaint on a laptop CPU, no GPU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82880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+ 5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834640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with the full pipeline, and five escalation stages with every transition tested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34840"/>
            <a:ext cx="10515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shows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460 seeded reports across 12 Pune wards forming master issues · an English and a Marathi report of the same fallen wire linked automatically · open issues spread over all five stages · citizen "not satisfied" reopening an issue · hotspot spike alert in Hadapsar.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notes: all data is synthetic, so no real-world accuracy is claimed; no real complaints have been collected yet. The officer-verification loop that retrains on real corrections is built. Citizen login has no OTP. Escalation changes records and screens only. The photo check needs an LLM key.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96112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270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· AI-04  |  15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508760"/>
            <a:ext cx="640080" cy="640080"/>
          </a:xfrm>
          <a:prstGeom prst="ellipse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6687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508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1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Life-safety issues reach the right team first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workload per real problem, not one per complaint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get a proven action plan, not a blank page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issue is closed by the citizen, not by the department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issues escalate on a visible, audited ladder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report in their own language and stay anonymous to officers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17920" y="1280160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50876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150876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13258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notifications for each escalation authority; OTP for citizens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2267712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0" y="249631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0" y="2496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231343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complaint data through the officer-verification loop; more Indian languages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217920" y="3255264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3483864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0" y="348386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330098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chatbot &amp; IVR intake; CPGRAMS / municipal ERP integration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17920" y="4242816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400800" y="4471416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0" y="44714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7360920" y="428853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image model for photo evidence; PostgreSQL + PostGIS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217920" y="5230368"/>
            <a:ext cx="53949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00800" y="5458968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00800" y="545896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360920" y="52760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82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maintenance: forecast issues before complaints arrive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41848" y="100584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0448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SamajSevak — every voice heard, every issue followed through.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1148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github.com/&lt;your-username&gt;/samajsevak</a:t>
            </a:r>
            <a:endParaRPr lang="en-US" sz="1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</a:t>
            </a:r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samajsevak . &amp;&amp; docker run -p 8000:8000 samajsevak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Viper  ·  Hack2Ignite  ·  AI-04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SamajSevak — AI Grievance Intelligence</dc:title>
  <dc:subject>PptxGenJS Presentation</dc:subject>
  <dc:creator>PptxGenJS</dc:creator>
  <cp:lastModifiedBy>PptxGenJS</cp:lastModifiedBy>
  <cp:revision>1</cp:revision>
  <dcterms:created xsi:type="dcterms:W3CDTF">2026-10-02T16:32:45Z</dcterms:created>
  <dcterms:modified xsi:type="dcterms:W3CDTF">2026-10-02T16:32:45Z</dcterms:modified>
</cp:coreProperties>
</file>