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486400" cy="5486400"/>
          </a:xfrm>
          <a:prstGeom prst="ellipse">
            <a:avLst/>
          </a:prstGeom>
          <a:solidFill>
            <a:srgbClr val="F97316">
              <a:alpha val="85000"/>
            </a:srgbClr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023360"/>
            <a:ext cx="3657600" cy="3657600"/>
          </a:xfrm>
          <a:prstGeom prst="ellipse">
            <a:avLst/>
          </a:prstGeom>
          <a:solidFill>
            <a:srgbClr val="1E3A8A">
              <a:alpha val="70000"/>
            </a:srgbClr>
          </a:solidFill>
          <a:ln w="12700">
            <a:solidFill>
              <a:srgbClr val="1E3A8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0515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057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Hack2Ignite  ·  Problem Statement AI-04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46888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SamajSevak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520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public grievance analysis &amp; resolution recommendation platform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572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complaint to prioritised, routed and resolved — with explainable AI.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760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Viper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complain. Systems file. Problems repeat.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1717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triage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43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free-text complaints read and sorted by hand — slow and inconsistent.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97680" y="1737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0" y="2011680"/>
            <a:ext cx="640080" cy="640080"/>
          </a:xfrm>
          <a:prstGeom prst="ellipse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020" y="217170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4924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routing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2743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bounce between departments before reaching the right team.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046720" y="1737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21040" y="2011680"/>
            <a:ext cx="640080" cy="640080"/>
          </a:xfrm>
          <a:prstGeom prst="ellipse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217170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9828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real prioritisation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2743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wire near a school waits in the same queue as a broken bench.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4023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2960" y="4297680"/>
            <a:ext cx="640080" cy="640080"/>
          </a:xfrm>
          <a:prstGeom prst="ellipse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" y="445770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0020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Duplicates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pothole reported 20 times means 20 tickets and wasted field visits.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4297680" y="4023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72000" y="4297680"/>
            <a:ext cx="640080" cy="640080"/>
          </a:xfrm>
          <a:prstGeom prst="ellipse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20" y="4457700"/>
            <a:ext cx="320040" cy="32004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34924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root-cause insight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72000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and spikes (e.g. a dengue outbreak) go unnoticed until too late.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8046720" y="4023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321040" y="4297680"/>
            <a:ext cx="640080" cy="640080"/>
          </a:xfrm>
          <a:prstGeom prst="ellipse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1060" y="445770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9828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trust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21040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replies, no ETA and no feedback loop — citizens stop reporting.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9611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SamajSevak · AI-04  |  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solution: SamajSevak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co-pilot for grievance cells — for citizens, officers and administrators.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57400"/>
            <a:ext cx="822960" cy="822960"/>
          </a:xfrm>
          <a:prstGeom prst="ellipse">
            <a:avLst/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2263140"/>
            <a:ext cx="411480" cy="411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063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56616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Classifies category &amp; department, extracts ward, landmark, duration, risk words and vulnerable groups, reads sentiment.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364992" y="178308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39312" y="2057400"/>
            <a:ext cx="822960" cy="8229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5052" y="226314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39312" y="3063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Prioritise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3639312" y="356616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0–100 urgency score, duplicate merging and automatic escalation of critical cases.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181344" y="178308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55664" y="2057400"/>
            <a:ext cx="822960" cy="822960"/>
          </a:xfrm>
          <a:prstGeom prst="ellipse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1404" y="226314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55664" y="3063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455664" y="356616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action plan from SOPs + what fixed similar past cases, ETA and an AI-drafted citizen reply.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8997696" y="178308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272016" y="2057400"/>
            <a:ext cx="822960" cy="822960"/>
          </a:xfrm>
          <a:prstGeom prst="ellipse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7756" y="226314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272016" y="3063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&amp; Prevent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9272016" y="356616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 map, emerging-issue alerts, SLA monitoring and department performance from citizen feedback.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fully offline with local ML; plugs into Gemini / OpenAI when available.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89611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SamajSevak · AI-04  |  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Citizen portal: live AI while you type</a:t>
            </a:r>
            <a:endParaRPr lang="en-US" sz="3200" dirty="0"/>
          </a:p>
        </p:txBody>
      </p:sp>
      <p:pic>
        <p:nvPicPr>
          <p:cNvPr id="3" name="Image 0" descr="/home/claude/samajsevak/docs/screenshots/subm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315200" cy="457200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8229600" y="1371600"/>
            <a:ext cx="384048" cy="38404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778240" y="1325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text or voice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778240" y="17373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Hindi or Hinglish — no forms full of dropdowns.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0" y="2514600"/>
            <a:ext cx="384048" cy="38404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778240" y="2468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triage preview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778240" y="28803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Department, priority, ETA and SLA shown before submitting.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229600" y="3657600"/>
            <a:ext cx="384048" cy="38404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778240" y="3611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Transparent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778240" y="40233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this priority?" breaks the score into factors.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229600" y="4800600"/>
            <a:ext cx="384048" cy="38404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0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78240" y="4754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&amp; rate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8778240" y="51663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ID, status timeline and 1–5 star feedback.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9611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SamajSevak · AI-04  | 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Officer console: decide faster, act smarter</a:t>
            </a:r>
            <a:endParaRPr lang="en-US" sz="3200" dirty="0"/>
          </a:p>
        </p:txBody>
      </p:sp>
      <p:pic>
        <p:nvPicPr>
          <p:cNvPr id="3" name="Image 0" descr="/home/claude/samajsevak/docs/screenshot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5486400" cy="342900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pic>
        <p:nvPicPr>
          <p:cNvPr id="4" name="Image 1" descr="/home/claude/samajsevak/docs/screenshots/de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34440"/>
            <a:ext cx="5486400" cy="342900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5" name="Text 1"/>
          <p:cNvSpPr txBox="1"/>
          <p:nvPr/>
        </p:nvSpPr>
        <p:spPr>
          <a:xfrm>
            <a:off x="548640" y="47548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Center — KPIs, 30-day inflow, AI alerts and the AI-ranked queue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47548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view — AI triage, explainable score, duplicates, action plan, AI reply, audit trail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553212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5532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Auto-routing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2423160" y="553212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2423160" y="5532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merge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297680" y="553212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297680" y="5532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breach tracking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172200" y="553212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172200" y="5532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status updates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046720" y="553212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046720" y="5532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AI-drafted replies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921240" y="553212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921240" y="5532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89611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SamajSevak · AI-04  |  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pipeline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complaint passes through 8 stages in ~4 ms on a laptop CPU.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0320" cy="1920240"/>
          </a:xfrm>
          <a:prstGeom prst="roundRect">
            <a:avLst>
              <a:gd name="adj" fmla="val 5714"/>
            </a:avLst>
          </a:prstGeom>
          <a:solidFill>
            <a:srgbClr val="F8FA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11680"/>
            <a:ext cx="566928" cy="566928"/>
          </a:xfrm>
          <a:prstGeom prst="ellipse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215341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20391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Clean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974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greetings &amp; boilerplate; Hinglish-aware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108960" y="24688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3383280" y="1783080"/>
            <a:ext cx="2560320" cy="1920240"/>
          </a:xfrm>
          <a:prstGeom prst="roundRect">
            <a:avLst>
              <a:gd name="adj" fmla="val 5714"/>
            </a:avLst>
          </a:prstGeom>
          <a:solidFill>
            <a:srgbClr val="F8FA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11880" y="2011680"/>
            <a:ext cx="566928" cy="566928"/>
          </a:xfrm>
          <a:prstGeom prst="ellipse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3612" y="215341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297680" y="20391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Classify &amp; route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11880" y="26974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word+char n-grams → Logistic Regression, 11 categories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43600" y="24688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6" name="Shape 12"/>
          <p:cNvSpPr/>
          <p:nvPr/>
        </p:nvSpPr>
        <p:spPr>
          <a:xfrm>
            <a:off x="6217920" y="1783080"/>
            <a:ext cx="2560320" cy="1920240"/>
          </a:xfrm>
          <a:prstGeom prst="roundRect">
            <a:avLst>
              <a:gd name="adj" fmla="val 5714"/>
            </a:avLst>
          </a:prstGeom>
          <a:solidFill>
            <a:srgbClr val="F8FA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46520" y="2011680"/>
            <a:ext cx="566928" cy="566928"/>
          </a:xfrm>
          <a:prstGeom prst="ellipse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8252" y="2153412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132320" y="20391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Extract entities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446520" y="26974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Ward, landmark, duration, risk words, vulnerable groups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8778240" y="24688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22" name="Shape 17"/>
          <p:cNvSpPr/>
          <p:nvPr/>
        </p:nvSpPr>
        <p:spPr>
          <a:xfrm>
            <a:off x="9052560" y="1783080"/>
            <a:ext cx="2560320" cy="1920240"/>
          </a:xfrm>
          <a:prstGeom prst="roundRect">
            <a:avLst>
              <a:gd name="adj" fmla="val 5714"/>
            </a:avLst>
          </a:prstGeom>
          <a:solidFill>
            <a:srgbClr val="F8FA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281160" y="2011680"/>
            <a:ext cx="566928" cy="566928"/>
          </a:xfrm>
          <a:prstGeom prst="ellipse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2892" y="2153412"/>
            <a:ext cx="283464" cy="28346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966960" y="20391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Sentiment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9281160" y="26974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Lexicon + intensifiers + !/CAPS → distress score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548640" y="4023360"/>
            <a:ext cx="2560320" cy="1920240"/>
          </a:xfrm>
          <a:prstGeom prst="roundRect">
            <a:avLst>
              <a:gd name="adj" fmla="val 5714"/>
            </a:avLst>
          </a:prstGeom>
          <a:solidFill>
            <a:srgbClr val="FFFBF5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777240" y="4251960"/>
            <a:ext cx="566928" cy="566928"/>
          </a:xfrm>
          <a:prstGeom prst="ellipse">
            <a:avLst/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4393692"/>
            <a:ext cx="283464" cy="283464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463040" y="427939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Find duplicates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777240" y="493776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similarity, category-aware re-rank, same ward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3108960" y="47091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33" name="Shape 26"/>
          <p:cNvSpPr/>
          <p:nvPr/>
        </p:nvSpPr>
        <p:spPr>
          <a:xfrm>
            <a:off x="3383280" y="4023360"/>
            <a:ext cx="2560320" cy="1920240"/>
          </a:xfrm>
          <a:prstGeom prst="roundRect">
            <a:avLst>
              <a:gd name="adj" fmla="val 5714"/>
            </a:avLst>
          </a:prstGeom>
          <a:solidFill>
            <a:srgbClr val="FFFBF5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3611880" y="4251960"/>
            <a:ext cx="566928" cy="566928"/>
          </a:xfrm>
          <a:prstGeom prst="ellipse">
            <a:avLst/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3612" y="4393692"/>
            <a:ext cx="283464" cy="28346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4297680" y="427939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Score priority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3611880" y="493776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0–100 from 7 weighted factors</a:t>
            </a:r>
            <a:endParaRPr lang="en-US" sz="1300" dirty="0"/>
          </a:p>
        </p:txBody>
      </p:sp>
      <p:sp>
        <p:nvSpPr>
          <p:cNvPr id="38" name="Text 30"/>
          <p:cNvSpPr txBox="1"/>
          <p:nvPr/>
        </p:nvSpPr>
        <p:spPr>
          <a:xfrm>
            <a:off x="5943600" y="47091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39" name="Shape 31"/>
          <p:cNvSpPr/>
          <p:nvPr/>
        </p:nvSpPr>
        <p:spPr>
          <a:xfrm>
            <a:off x="6217920" y="4023360"/>
            <a:ext cx="2560320" cy="1920240"/>
          </a:xfrm>
          <a:prstGeom prst="roundRect">
            <a:avLst>
              <a:gd name="adj" fmla="val 5714"/>
            </a:avLst>
          </a:prstGeom>
          <a:solidFill>
            <a:srgbClr val="FFFBF5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0" name="Shape 32"/>
          <p:cNvSpPr/>
          <p:nvPr/>
        </p:nvSpPr>
        <p:spPr>
          <a:xfrm>
            <a:off x="6446520" y="4251960"/>
            <a:ext cx="566928" cy="566928"/>
          </a:xfrm>
          <a:prstGeom prst="ellipse">
            <a:avLst/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252" y="4393692"/>
            <a:ext cx="283464" cy="283464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132320" y="427939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Recommend</a:t>
            </a:r>
            <a:endParaRPr lang="en-US" sz="1400" dirty="0"/>
          </a:p>
        </p:txBody>
      </p:sp>
      <p:sp>
        <p:nvSpPr>
          <p:cNvPr id="43" name="Text 34"/>
          <p:cNvSpPr txBox="1"/>
          <p:nvPr/>
        </p:nvSpPr>
        <p:spPr>
          <a:xfrm>
            <a:off x="6446520" y="493776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playbook + proven past fixes + median ETA</a:t>
            </a:r>
            <a:endParaRPr lang="en-US" sz="1300" dirty="0"/>
          </a:p>
        </p:txBody>
      </p:sp>
      <p:sp>
        <p:nvSpPr>
          <p:cNvPr id="44" name="Text 35"/>
          <p:cNvSpPr txBox="1"/>
          <p:nvPr/>
        </p:nvSpPr>
        <p:spPr>
          <a:xfrm>
            <a:off x="8778240" y="47091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45" name="Shape 36"/>
          <p:cNvSpPr/>
          <p:nvPr/>
        </p:nvSpPr>
        <p:spPr>
          <a:xfrm>
            <a:off x="9052560" y="4023360"/>
            <a:ext cx="2560320" cy="1920240"/>
          </a:xfrm>
          <a:prstGeom prst="roundRect">
            <a:avLst>
              <a:gd name="adj" fmla="val 5714"/>
            </a:avLst>
          </a:prstGeom>
          <a:solidFill>
            <a:srgbClr val="FFFBF5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6" name="Shape 37"/>
          <p:cNvSpPr/>
          <p:nvPr/>
        </p:nvSpPr>
        <p:spPr>
          <a:xfrm>
            <a:off x="9281160" y="4251960"/>
            <a:ext cx="566928" cy="566928"/>
          </a:xfrm>
          <a:prstGeom prst="ellipse">
            <a:avLst/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22892" y="4393692"/>
            <a:ext cx="283464" cy="283464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9966960" y="427939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Detect spikes</a:t>
            </a:r>
            <a:endParaRPr lang="en-US" sz="1400" dirty="0"/>
          </a:p>
        </p:txBody>
      </p:sp>
      <p:sp>
        <p:nvSpPr>
          <p:cNvPr id="49" name="Text 39"/>
          <p:cNvSpPr txBox="1"/>
          <p:nvPr/>
        </p:nvSpPr>
        <p:spPr>
          <a:xfrm>
            <a:off x="9281160" y="493776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Ward×category vs 3-week baseline → alerts</a:t>
            </a:r>
            <a:endParaRPr lang="en-US" sz="1300" dirty="0"/>
          </a:p>
        </p:txBody>
      </p:sp>
      <p:sp>
        <p:nvSpPr>
          <p:cNvPr id="50" name="Text 40"/>
          <p:cNvSpPr txBox="1"/>
          <p:nvPr/>
        </p:nvSpPr>
        <p:spPr>
          <a:xfrm>
            <a:off x="548640" y="6217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optional GenAI (Gemini / OpenAI) drafts empathetic replies grounded in this analysis</a:t>
            </a:r>
            <a:endParaRPr lang="en-US" sz="1300" dirty="0"/>
          </a:p>
        </p:txBody>
      </p:sp>
      <p:sp>
        <p:nvSpPr>
          <p:cNvPr id="51" name="Text 41"/>
          <p:cNvSpPr txBox="1"/>
          <p:nvPr/>
        </p:nvSpPr>
        <p:spPr>
          <a:xfrm>
            <a:off x="89611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SamajSevak · AI-04  |  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priority, not a black box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Officers see exactly why a case is urgent — and can defend the decision.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5778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complaint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“Live electric wire has fallen near the primary school in Kothrud since yesterday. Children walk here daily, extremely dangerous!”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74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severity (Electricity)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023360" y="3593592"/>
            <a:ext cx="1371600" cy="128016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23360" y="3593592"/>
            <a:ext cx="1028700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40680" y="34747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+22.5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9044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keywords: live electric wire, dangerous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023360" y="4023360"/>
            <a:ext cx="1371600" cy="128016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23360" y="4023360"/>
            <a:ext cx="1188720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40680" y="39044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+26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3425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Vulnerable groups: children, school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023360" y="4453128"/>
            <a:ext cx="1371600" cy="128016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4453128"/>
            <a:ext cx="548640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40680" y="43342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76402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persisting ~1 day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023360" y="4882896"/>
            <a:ext cx="1371600" cy="128016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0" y="4882896"/>
            <a:ext cx="146304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40680" y="47640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+3.2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1937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open complaint nearby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023360" y="5312664"/>
            <a:ext cx="1371600" cy="128016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23360" y="5312664"/>
            <a:ext cx="182880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40680" y="5193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" y="5623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distress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023360" y="5742432"/>
            <a:ext cx="1371600" cy="128016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23360" y="5742432"/>
            <a:ext cx="91440" cy="128016"/>
          </a:xfrm>
          <a:prstGeom prst="roundRect">
            <a:avLst>
              <a:gd name="adj" fmla="val 7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40680" y="5623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+1.2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0" y="173736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0F1B3D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675120" y="187452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7200" dirty="0"/>
          </a:p>
        </p:txBody>
      </p:sp>
      <p:sp>
        <p:nvSpPr>
          <p:cNvPr id="33" name="Text 31"/>
          <p:cNvSpPr txBox="1"/>
          <p:nvPr/>
        </p:nvSpPr>
        <p:spPr>
          <a:xfrm>
            <a:off x="6675120" y="3108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/100  CRITICAL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778240" y="210312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Auto-escalated to Electricity Board within 2 h · ETA 12 h · SLA 24 h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6400800" y="4069080"/>
            <a:ext cx="52120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675120" y="425196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≥ 60   ·   High ≥ 42   ·   Medium ≥ 25   ·   Low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Factors: category severity, risk keywords, vulnerable groups, sentiment distress, duration, cluster size, repeat complaint.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classifier confidence (&lt; 40%) sends the case to human triage — AI assists, officers decide.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9611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SamajSevak · AI-04  |  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194560" cy="1920240"/>
          </a:xfrm>
          <a:prstGeom prst="roundRect">
            <a:avLst>
              <a:gd name="adj" fmla="val 4762"/>
            </a:avLst>
          </a:prstGeom>
          <a:solidFill>
            <a:srgbClr val="FFF7ED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2880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portal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/ Call centre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input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2194560" cy="1920240"/>
          </a:xfrm>
          <a:prstGeom prst="roundRect">
            <a:avLst>
              <a:gd name="adj" fmla="val 4762"/>
            </a:avLst>
          </a:prstGeom>
          <a:solidFill>
            <a:srgbClr val="FFF7ED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38404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2062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officers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heads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377440" cy="4297680"/>
          </a:xfrm>
          <a:prstGeom prst="roundRect">
            <a:avLst>
              <a:gd name="adj" fmla="val 3846"/>
            </a:avLst>
          </a:prstGeom>
          <a:solidFill>
            <a:srgbClr val="EEF2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4630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730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UI (Vite)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828800"/>
            <a:ext cx="21031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portal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&amp; feedback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queue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workspace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 map (Leaflet)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(Recharts)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371600"/>
            <a:ext cx="2377440" cy="4297680"/>
          </a:xfrm>
          <a:prstGeom prst="roundRect">
            <a:avLst>
              <a:gd name="adj" fmla="val 3846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55080" y="14630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backend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1828800"/>
            <a:ext cx="21031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+ OpenAPI docs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Grievance service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&amp; SLA engine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alerts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built UI (Docker)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0" y="1371600"/>
            <a:ext cx="2514600" cy="2514600"/>
          </a:xfrm>
          <a:prstGeom prst="roundRect">
            <a:avLst>
              <a:gd name="adj" fmla="val 3636"/>
            </a:avLst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81160" y="1463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 (scikit-learn)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81160" y="1828800"/>
            <a:ext cx="2240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· Sentiment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extraction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 index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scorer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 detector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44000" y="4114800"/>
            <a:ext cx="1188720" cy="155448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81160" y="4206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457200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→ PostgreSQL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469880" y="4114800"/>
            <a:ext cx="1188720" cy="155448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607040" y="4206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 KB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607040" y="457200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Playbooks, SLAs, past fixes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2331720"/>
            <a:ext cx="5486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743200" y="4709160"/>
            <a:ext cx="5486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669280" y="3520440"/>
            <a:ext cx="5486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595360" y="2651760"/>
            <a:ext cx="5486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595360" y="4892040"/>
            <a:ext cx="5486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217920" y="5897880"/>
            <a:ext cx="5440680" cy="548640"/>
          </a:xfrm>
          <a:prstGeom prst="roundRect">
            <a:avLst>
              <a:gd name="adj" fmla="val 16667"/>
            </a:avLst>
          </a:prstGeom>
          <a:solidFill>
            <a:srgbClr val="FAF5FF"/>
          </a:solidFill>
          <a:ln w="12700">
            <a:solidFill>
              <a:srgbClr val="D8B4FE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6355080" y="5897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Gemini 2.0 Flash / GPT-4o-mini — grounded reply drafting, template fallback offline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406640" y="5669280"/>
            <a:ext cx="0" cy="228600"/>
          </a:xfrm>
          <a:prstGeom prst="line">
            <a:avLst/>
          </a:prstGeom>
          <a:noFill/>
          <a:ln w="19050">
            <a:solidFill>
              <a:srgbClr val="94A3B8"/>
            </a:solidFill>
            <a:prstDash val="dash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48640" y="58978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Flow: complaint → analyse (~4 ms) → auto-route &amp; escalate → officer acts on recommendation → citizen feedback → analytics &amp; alerts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Lightweight, open-source and deployable on a single government server.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06040" cy="43891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777240" cy="777240"/>
          </a:xfrm>
          <a:prstGeom prst="ellipse">
            <a:avLst/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160270"/>
            <a:ext cx="388620" cy="3886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9659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971800"/>
            <a:ext cx="2240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 + OpenStreetMap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Speech API (voice)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364992" y="1737360"/>
            <a:ext cx="2606040" cy="43891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39312" y="1965960"/>
            <a:ext cx="777240" cy="7772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3622" y="2160270"/>
            <a:ext cx="388620" cy="3886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53712" y="19659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3593592" y="2971800"/>
            <a:ext cx="2240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Uvicorn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validation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(PostgreSQL-ready)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181344" y="1737360"/>
            <a:ext cx="2606040" cy="43891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55664" y="1965960"/>
            <a:ext cx="777240" cy="777240"/>
          </a:xfrm>
          <a:prstGeom prst="ellipse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9974" y="2160270"/>
            <a:ext cx="388620" cy="3886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370064" y="19659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/ ML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6409944" y="2971800"/>
            <a:ext cx="2240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scikit-learn: TF-IDF, LogReg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 retrieval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Rule-augmented NLP (NER, sentiment)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· joblib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/ OpenAI (optional)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8997696" y="1737360"/>
            <a:ext cx="2606040" cy="43891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272016" y="1965960"/>
            <a:ext cx="777240" cy="777240"/>
          </a:xfrm>
          <a:prstGeom prst="ellipse">
            <a:avLst/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6326" y="2160270"/>
            <a:ext cx="388620" cy="3886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186416" y="19659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900" dirty="0"/>
          </a:p>
        </p:txBody>
      </p:sp>
      <p:sp>
        <p:nvSpPr>
          <p:cNvPr id="23" name="Text 17"/>
          <p:cNvSpPr txBox="1"/>
          <p:nvPr/>
        </p:nvSpPr>
        <p:spPr>
          <a:xfrm>
            <a:off x="9226296" y="2971800"/>
            <a:ext cx="2240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single container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/ Railway / any VM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for version control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docs at /docs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Env-based API keys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9611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SamajSevak · AI-04  |  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complaints to prevention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Hotspots, emerging-issue alerts and department accountability.</a:t>
            </a:r>
            <a:endParaRPr lang="en-US" sz="1600" dirty="0"/>
          </a:p>
        </p:txBody>
      </p:sp>
      <p:pic>
        <p:nvPicPr>
          <p:cNvPr id="4" name="Image 0" descr="/home/claude/samajsevak/docs/screenshots/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583680" cy="411480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7452360" y="1645920"/>
            <a:ext cx="4206240" cy="2148840"/>
          </a:xfrm>
          <a:prstGeom prst="roundRect">
            <a:avLst>
              <a:gd name="adj" fmla="val 5106"/>
            </a:avLst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680960" y="1783080"/>
            <a:ext cx="3794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Emerging hotspot detected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public-health complaints in Hadapsar this week — far above its 3-week baseline.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ward-level fever survey &amp; fogging drive instead of case-by-case fixes.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45236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risk ranking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&amp; urgent load per ward, top issue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452360" y="46177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compliance by department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performers surface first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452360" y="52120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tracking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feeds back into priority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9611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SamajSevak · AI-04  |  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results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the working prototype in the GitHub repo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95.5%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accuracy on hand-written unseen complaints (21/22)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9202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DBA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 ms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30175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AI analysis per complaint on CPU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19202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30175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auto-routed to departments with SLAs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052560" y="19202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DBA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30175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stages: classify → recommend → detect spikes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3484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demo shows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450+ realistic seeded grievances across 12 Pune wards · critical cases escalated automatically · duplicate detection on resubmission · hotspot spike alert in Hadapsar · end-to-end workflow from submission to citizen rating.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note: training data is synthetic; production retrains on real, officer-verified complaints.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&amp; roadmap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94960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508760"/>
            <a:ext cx="640080" cy="640080"/>
          </a:xfrm>
          <a:prstGeom prst="ellipse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6687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5087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Life-safety issues reach the right team first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duplicate field visits and misrouted tickets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Officers get a proven action plan, not a blank page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Administrators spot outbreaks &amp; systemic failures early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get transparent ETAs and personalised replies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department accountability via SLA &amp; ratings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1280160"/>
            <a:ext cx="53949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00800" y="1508760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0" y="15087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360920" y="13258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transformer (IndicBERT / MuRIL) for Marathi, Hindi &amp; regional languages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17920" y="2267712"/>
            <a:ext cx="53949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00800" y="2496312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0" y="24963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360920" y="231343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evidence: detect potholes, garbage, waterlogging from images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17920" y="3255264"/>
            <a:ext cx="53949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00800" y="3483864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0" y="348386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7360920" y="3300984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chatbot &amp; IVR intake; CPGRAMS / municipal ERP integration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217920" y="4242816"/>
            <a:ext cx="53949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400800" y="4471416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447141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7360920" y="4288536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learning from officer corrections; PostgreSQL + PostGIS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217920" y="5230368"/>
            <a:ext cx="53949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400800" y="5458968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00800" y="545896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7360920" y="527608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maintenance: forecast issues before complaints arrive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9611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SamajSevak · AI-04  |  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F97316">
              <a:alpha val="85000"/>
            </a:srgbClr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41848" y="100584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12344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1031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08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SamajSevak — every voice heard, every grievance resolved smarter.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41148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</a:t>
            </a:r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github.com/&lt;your-username&gt;/samajsevak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</a:t>
            </a:r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 -t samajsevak . &amp;&amp; docker run -p 8000:8000 samajsevak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Viper  ·  Hack2Ignite  ·  AI-04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SamajSevak — AI Grievance Intelligence</dc:title>
  <dc:subject>PptxGenJS Presentation</dc:subject>
  <dc:creator>PptxGenJS</dc:creator>
  <cp:lastModifiedBy>PptxGenJS</cp:lastModifiedBy>
  <cp:revision>1</cp:revision>
  <dcterms:created xsi:type="dcterms:W3CDTF">2026-09-16T15:48:02Z</dcterms:created>
  <dcterms:modified xsi:type="dcterms:W3CDTF">2026-09-16T15:48:02Z</dcterms:modified>
</cp:coreProperties>
</file>